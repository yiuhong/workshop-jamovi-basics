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Roboto"/>
      <p:regular r:id="rId47"/>
      <p:bold r:id="rId48"/>
      <p:italic r:id="rId49"/>
      <p:boldItalic r:id="rId50"/>
    </p:embeddedFont>
    <p:embeddedFont>
      <p:font typeface="Roboto Mono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B3B162-FC7A-4347-B7CF-A3DBB0AF951F}">
  <a:tblStyle styleId="{B0B3B162-FC7A-4347-B7CF-A3DBB0AF95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RobotoMono-italic.fntdata"/><Relationship Id="rId52" Type="http://schemas.openxmlformats.org/officeDocument/2006/relationships/font" Target="fonts/RobotoMon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fc9935c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fc9935c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a29df1b7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a29df1b7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24608b12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24608b12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f72c8e51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f72c8e51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f72c8e51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f72c8e51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a29df1b7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a29df1b7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f72c8e51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f72c8e51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24608b1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24608b1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24608b12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24608b12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f72c8e51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f72c8e51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f72c8e51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f72c8e51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f72c8e51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f72c8e51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f72c8e51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f72c8e51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24cb1cc24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24cb1cc24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24608b12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24608b12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f72c8e51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f72c8e51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f72c8e51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ef72c8e51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f72c8e51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f72c8e51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f72c8e51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f72c8e51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f72c8e51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f72c8e51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f72c8e51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ef72c8e51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f79efd1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ef79efd1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f79efd11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f79efd11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f79efd11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f79efd11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f79efd11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ef79efd11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f79efd11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ef79efd11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a29df1b7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ea29df1b7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fa5057fe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efa5057fe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fb672c1c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efb672c1c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fc9935c8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efc9935c8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f4bd0556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ef4bd0556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fb672c1c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fb672c1c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fa61fc7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efa61fc7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fb672c1c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efb672c1c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f4bd055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f4bd055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f79efd11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ef79efd11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a29df1b7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ea29df1b7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efbcc0ea8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efbcc0ea8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24608b12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f24608b12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6.png"/><Relationship Id="rId4" Type="http://schemas.openxmlformats.org/officeDocument/2006/relationships/hyperlink" Target="https://en.wikipedia.org/wiki/Guinea_pig" TargetMode="External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indrapatil.com/ggstatsplot/reference/bugs_long.html" TargetMode="External"/><Relationship Id="rId4" Type="http://schemas.openxmlformats.org/officeDocument/2006/relationships/image" Target="../media/image31.png"/><Relationship Id="rId5" Type="http://schemas.openxmlformats.org/officeDocument/2006/relationships/hyperlink" Target="https://nintendo.fandom.com/wiki/Bug_(Pok%C3%A9mon_type)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7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Relationship Id="rId4" Type="http://schemas.openxmlformats.org/officeDocument/2006/relationships/image" Target="../media/image39.png"/><Relationship Id="rId5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rive.google.com/drive/folders/12meW_MLh03t6F_aCJFA02S9Xd0tXZd_B?usp=drive_link" TargetMode="External"/><Relationship Id="rId4" Type="http://schemas.openxmlformats.org/officeDocument/2006/relationships/image" Target="../media/image34.png"/><Relationship Id="rId5" Type="http://schemas.openxmlformats.org/officeDocument/2006/relationships/image" Target="../media/image5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1.png"/><Relationship Id="rId4" Type="http://schemas.openxmlformats.org/officeDocument/2006/relationships/image" Target="../media/image5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3.png"/><Relationship Id="rId4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png"/><Relationship Id="rId4" Type="http://schemas.openxmlformats.org/officeDocument/2006/relationships/image" Target="../media/image4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cloud.r-project.org/" TargetMode="External"/><Relationship Id="rId4" Type="http://schemas.openxmlformats.org/officeDocument/2006/relationships/hyperlink" Target="https://posit.co/products/open-source/rstudio" TargetMode="External"/><Relationship Id="rId5" Type="http://schemas.openxmlformats.org/officeDocument/2006/relationships/image" Target="../media/image27.png"/><Relationship Id="rId6" Type="http://schemas.openxmlformats.org/officeDocument/2006/relationships/image" Target="../media/image4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youtu.be/mZomeS0tLxY?si=YBIlvCYcFlOqeWh3" TargetMode="External"/><Relationship Id="rId4" Type="http://schemas.openxmlformats.org/officeDocument/2006/relationships/hyperlink" Target="https://lsj.readthedocs.io/en/latest/" TargetMode="External"/><Relationship Id="rId5" Type="http://schemas.openxmlformats.org/officeDocument/2006/relationships/hyperlink" Target="https://www.jamovi.org/community.html" TargetMode="External"/><Relationship Id="rId6" Type="http://schemas.openxmlformats.org/officeDocument/2006/relationships/hyperlink" Target="https://saintpeters.pressbooks.pub/jamovistats/" TargetMode="External"/><Relationship Id="rId7" Type="http://schemas.openxmlformats.org/officeDocument/2006/relationships/hyperlink" Target="https://docs.jamovi.org/index.html" TargetMode="External"/><Relationship Id="rId8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706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 with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700350"/>
            <a:ext cx="8520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Yiu Hong Ko (29-06-2025)</a:t>
            </a:r>
            <a:endParaRPr sz="14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5513" y="2223250"/>
            <a:ext cx="5192975" cy="12801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0" y="0"/>
            <a:ext cx="1009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1723913" y="225141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A729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14"/>
          <p:cNvGrpSpPr/>
          <p:nvPr/>
        </p:nvGrpSpPr>
        <p:grpSpPr>
          <a:xfrm>
            <a:off x="369672" y="1960450"/>
            <a:ext cx="1578303" cy="1897975"/>
            <a:chOff x="369672" y="1960450"/>
            <a:chExt cx="1578303" cy="1897975"/>
          </a:xfrm>
        </p:grpSpPr>
        <p:sp>
          <p:nvSpPr>
            <p:cNvPr id="64" name="Google Shape;64;p14"/>
            <p:cNvSpPr/>
            <p:nvPr/>
          </p:nvSpPr>
          <p:spPr>
            <a:xfrm>
              <a:off x="861672" y="19604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940422" y="21216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369675" y="2664225"/>
              <a:ext cx="1578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Research questions</a:t>
              </a:r>
              <a:endParaRPr b="1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369672" y="3121025"/>
              <a:ext cx="15783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2114712" y="1960450"/>
            <a:ext cx="1537206" cy="1897975"/>
            <a:chOff x="2114712" y="1960450"/>
            <a:chExt cx="1537206" cy="1897975"/>
          </a:xfrm>
        </p:grpSpPr>
        <p:sp>
          <p:nvSpPr>
            <p:cNvPr id="69" name="Google Shape;69;p14"/>
            <p:cNvSpPr/>
            <p:nvPr/>
          </p:nvSpPr>
          <p:spPr>
            <a:xfrm>
              <a:off x="2586168" y="19604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2114712" y="2664225"/>
              <a:ext cx="1537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Research design</a:t>
              </a:r>
              <a:endParaRPr b="1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2114718" y="3121025"/>
              <a:ext cx="15372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2664918" y="21216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3" name="Google Shape;73;p14"/>
          <p:cNvGrpSpPr/>
          <p:nvPr/>
        </p:nvGrpSpPr>
        <p:grpSpPr>
          <a:xfrm>
            <a:off x="3818650" y="1960450"/>
            <a:ext cx="1537202" cy="1897973"/>
            <a:chOff x="3818650" y="1960450"/>
            <a:chExt cx="1537202" cy="1897973"/>
          </a:xfrm>
        </p:grpSpPr>
        <p:sp>
          <p:nvSpPr>
            <p:cNvPr id="74" name="Google Shape;74;p14"/>
            <p:cNvSpPr/>
            <p:nvPr/>
          </p:nvSpPr>
          <p:spPr>
            <a:xfrm>
              <a:off x="4290102" y="19604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3818650" y="2664225"/>
              <a:ext cx="1537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Data collection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3818652" y="3121023"/>
              <a:ext cx="15372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4368852" y="21216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8" name="Google Shape;78;p14"/>
          <p:cNvGrpSpPr/>
          <p:nvPr/>
        </p:nvGrpSpPr>
        <p:grpSpPr>
          <a:xfrm>
            <a:off x="5527887" y="1960450"/>
            <a:ext cx="1537203" cy="1897975"/>
            <a:chOff x="5527887" y="1960450"/>
            <a:chExt cx="1537203" cy="1897975"/>
          </a:xfrm>
        </p:grpSpPr>
        <p:sp>
          <p:nvSpPr>
            <p:cNvPr id="79" name="Google Shape;79;p14"/>
            <p:cNvSpPr/>
            <p:nvPr/>
          </p:nvSpPr>
          <p:spPr>
            <a:xfrm>
              <a:off x="5999340" y="19604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5527887" y="2664225"/>
              <a:ext cx="1537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Data analysis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5527890" y="3121025"/>
              <a:ext cx="15372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6078090" y="21216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" name="Google Shape;83;p14"/>
          <p:cNvGrpSpPr/>
          <p:nvPr/>
        </p:nvGrpSpPr>
        <p:grpSpPr>
          <a:xfrm>
            <a:off x="7237137" y="1960450"/>
            <a:ext cx="1537206" cy="1897975"/>
            <a:chOff x="7237137" y="1960450"/>
            <a:chExt cx="1537206" cy="1897975"/>
          </a:xfrm>
        </p:grpSpPr>
        <p:sp>
          <p:nvSpPr>
            <p:cNvPr id="84" name="Google Shape;84;p14"/>
            <p:cNvSpPr/>
            <p:nvPr/>
          </p:nvSpPr>
          <p:spPr>
            <a:xfrm>
              <a:off x="7708593" y="19604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 txBox="1"/>
            <p:nvPr/>
          </p:nvSpPr>
          <p:spPr>
            <a:xfrm>
              <a:off x="7237137" y="2664225"/>
              <a:ext cx="1537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Report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7237143" y="3121025"/>
              <a:ext cx="15372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" name="Google Shape;87;p14"/>
            <p:cNvSpPr txBox="1"/>
            <p:nvPr/>
          </p:nvSpPr>
          <p:spPr>
            <a:xfrm>
              <a:off x="7787343" y="21216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8" name="Google Shape;88;p14"/>
          <p:cNvSpPr/>
          <p:nvPr/>
        </p:nvSpPr>
        <p:spPr>
          <a:xfrm>
            <a:off x="3438138" y="225141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5184088" y="225141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6853963" y="225141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14"/>
          <p:cNvCxnSpPr/>
          <p:nvPr/>
        </p:nvCxnSpPr>
        <p:spPr>
          <a:xfrm>
            <a:off x="5637425" y="1646363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Jamovi?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Free alternative to SPSS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Open-sourced, open-access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Flexibility, similar to R (syntax mode)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Replicability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</a:t>
            </a:r>
            <a:r>
              <a:rPr lang="en"/>
              <a:t>eginner friendly</a:t>
            </a:r>
            <a:endParaRPr/>
          </a:p>
        </p:txBody>
      </p:sp>
      <p:pic>
        <p:nvPicPr>
          <p:cNvPr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2250" y="1284775"/>
            <a:ext cx="1017749" cy="94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8650" y="2567712"/>
            <a:ext cx="1198700" cy="11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9563" y="4089306"/>
            <a:ext cx="947775" cy="73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84525" y="3982700"/>
            <a:ext cx="947775" cy="9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36975" y="4089299"/>
            <a:ext cx="2733626" cy="80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99298" y="2635223"/>
            <a:ext cx="1063650" cy="10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10:00-12:30 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Load data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Data and measure types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Compute variables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Descriptive statistics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Data visualization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Filter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Transform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13:30-16:30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Statistics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Modules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Long format vs. wide format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Syntax mode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200" y="0"/>
            <a:ext cx="875634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/>
          <p:nvPr/>
        </p:nvSpPr>
        <p:spPr>
          <a:xfrm>
            <a:off x="4496775" y="958975"/>
            <a:ext cx="4484700" cy="4148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130450" y="958975"/>
            <a:ext cx="4264800" cy="4148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17"/>
          <p:cNvCxnSpPr/>
          <p:nvPr/>
        </p:nvCxnSpPr>
        <p:spPr>
          <a:xfrm>
            <a:off x="1038850" y="72650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8" name="Google Shape;11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2502" y="515825"/>
            <a:ext cx="1384100" cy="31456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17"/>
          <p:cNvCxnSpPr/>
          <p:nvPr/>
        </p:nvCxnSpPr>
        <p:spPr>
          <a:xfrm>
            <a:off x="8557800" y="72650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7"/>
          <p:cNvCxnSpPr/>
          <p:nvPr/>
        </p:nvCxnSpPr>
        <p:spPr>
          <a:xfrm>
            <a:off x="8000150" y="2473650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538" y="0"/>
            <a:ext cx="877092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/>
          <p:nvPr/>
        </p:nvSpPr>
        <p:spPr>
          <a:xfrm>
            <a:off x="130450" y="958975"/>
            <a:ext cx="4264800" cy="4148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" name="Google Shape;127;p18"/>
          <p:cNvCxnSpPr/>
          <p:nvPr/>
        </p:nvCxnSpPr>
        <p:spPr>
          <a:xfrm>
            <a:off x="450400" y="4357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Load data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311700" y="1152475"/>
            <a:ext cx="580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Open: Loading one single 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Data Library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Special Import: Loading and stacking multiple files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for combining datasets (e.g., one dataset for each participant)</a:t>
            </a:r>
            <a:endParaRPr/>
          </a:p>
        </p:txBody>
      </p:sp>
      <p:pic>
        <p:nvPicPr>
          <p:cNvPr id="134" name="Google Shape;134;p19"/>
          <p:cNvPicPr preferRelativeResize="0"/>
          <p:nvPr/>
        </p:nvPicPr>
        <p:blipFill rotWithShape="1">
          <a:blip r:embed="rId3">
            <a:alphaModFix/>
          </a:blip>
          <a:srcRect b="0" l="0" r="41935" t="0"/>
          <a:stretch/>
        </p:blipFill>
        <p:spPr>
          <a:xfrm>
            <a:off x="6285425" y="0"/>
            <a:ext cx="28585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/>
          <p:nvPr/>
        </p:nvSpPr>
        <p:spPr>
          <a:xfrm>
            <a:off x="6349450" y="1983300"/>
            <a:ext cx="2695200" cy="1024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1: load the Tooth Growth dataset</a:t>
            </a:r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626368"/>
                </a:solidFill>
                <a:highlight>
                  <a:srgbClr val="FCFCFC"/>
                </a:highlight>
              </a:rPr>
              <a:t> The </a:t>
            </a:r>
            <a:r>
              <a:rPr lang="en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Tooth Growth</a:t>
            </a:r>
            <a:r>
              <a:rPr lang="en">
                <a:solidFill>
                  <a:srgbClr val="626368"/>
                </a:solidFill>
                <a:highlight>
                  <a:srgbClr val="FCFCFC"/>
                </a:highlight>
              </a:rPr>
              <a:t> example contains the length of teeth from guinea pigs (the </a:t>
            </a:r>
            <a:r>
              <a:rPr lang="en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">
                <a:solidFill>
                  <a:srgbClr val="626368"/>
                </a:solidFill>
                <a:highlight>
                  <a:srgbClr val="FCFCFC"/>
                </a:highlight>
              </a:rPr>
              <a:t> column) fed different dosages (the </a:t>
            </a:r>
            <a:r>
              <a:rPr lang="en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dose</a:t>
            </a:r>
            <a:r>
              <a:rPr lang="en">
                <a:solidFill>
                  <a:srgbClr val="626368"/>
                </a:solidFill>
                <a:highlight>
                  <a:srgbClr val="FCFCFC"/>
                </a:highlight>
              </a:rPr>
              <a:t> column) of supplements: vitamin C or orange juice (recorded in the </a:t>
            </a:r>
            <a:r>
              <a:rPr lang="en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supp</a:t>
            </a:r>
            <a:r>
              <a:rPr lang="en">
                <a:solidFill>
                  <a:srgbClr val="626368"/>
                </a:solidFill>
                <a:highlight>
                  <a:srgbClr val="FCFCFC"/>
                </a:highlight>
              </a:rPr>
              <a:t> column as </a:t>
            </a:r>
            <a:r>
              <a:rPr lang="en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VC</a:t>
            </a:r>
            <a:r>
              <a:rPr lang="en">
                <a:solidFill>
                  <a:srgbClr val="626368"/>
                </a:solidFill>
                <a:highlight>
                  <a:srgbClr val="FCFCFC"/>
                </a:highlight>
              </a:rPr>
              <a:t> and </a:t>
            </a:r>
            <a:r>
              <a:rPr lang="en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OJ</a:t>
            </a:r>
            <a:r>
              <a:rPr lang="en">
                <a:solidFill>
                  <a:srgbClr val="626368"/>
                </a:solidFill>
                <a:highlight>
                  <a:srgbClr val="FCFCFC"/>
                </a:highlight>
              </a:rPr>
              <a:t>). 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8675" y="0"/>
            <a:ext cx="1225324" cy="9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/>
        </p:nvSpPr>
        <p:spPr>
          <a:xfrm>
            <a:off x="7455350" y="853600"/>
            <a:ext cx="17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Guinea pig - Wikipedia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aphicFrame>
        <p:nvGraphicFramePr>
          <p:cNvPr id="144" name="Google Shape;144;p20"/>
          <p:cNvGraphicFramePr/>
          <p:nvPr/>
        </p:nvGraphicFramePr>
        <p:xfrm>
          <a:off x="1679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{B0B3B162-FC7A-4347-B7CF-A3DBB0AF951F}</a:tableStyleId>
              </a:tblPr>
              <a:tblGrid>
                <a:gridCol w="1151475"/>
                <a:gridCol w="1151475"/>
                <a:gridCol w="1073975"/>
                <a:gridCol w="1228975"/>
              </a:tblGrid>
              <a:tr h="66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6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r>
                        <a:rPr lang="en"/>
                        <a:t>C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💊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🐹🐹🐹🐹🐹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🐹🐹🐹🐹🐹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🐹🐹🐹🐹🐹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🐹🐹🐹🐹🐹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🐹🐹🐹🐹🐹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🐹🐹🐹🐹🐹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6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OJ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🍊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🐹🐹🐹🐹🐹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🐹🐹🐹🐹🐹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🐹🐹🐹🐹🐹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🐹🐹🐹🐹🐹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🐹🐹🐹🐹🐹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🐹🐹🐹🐹🐹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45" name="Google Shape;145;p20"/>
          <p:cNvPicPr preferRelativeResize="0"/>
          <p:nvPr/>
        </p:nvPicPr>
        <p:blipFill rotWithShape="1">
          <a:blip r:embed="rId5">
            <a:alphaModFix/>
          </a:blip>
          <a:srcRect b="47457" l="0" r="53124" t="0"/>
          <a:stretch/>
        </p:blipFill>
        <p:spPr>
          <a:xfrm>
            <a:off x="5039350" y="2440987"/>
            <a:ext cx="4104648" cy="270252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 txBox="1"/>
          <p:nvPr/>
        </p:nvSpPr>
        <p:spPr>
          <a:xfrm>
            <a:off x="7192175" y="3506525"/>
            <a:ext cx="4184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🐹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🐹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🐹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🐹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🐹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🐹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🐹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🐹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🐹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🐹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2. Data type and measure types</a:t>
            </a:r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26368"/>
                </a:solidFill>
              </a:rPr>
              <a:t>Data variables can be one three data types:</a:t>
            </a:r>
            <a:endParaRPr sz="1050">
              <a:solidFill>
                <a:srgbClr val="626368"/>
              </a:solidFill>
            </a:endParaRPr>
          </a:p>
          <a:p>
            <a:pPr indent="-228600" lvl="0" marL="4572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626368"/>
              </a:buClr>
              <a:buSzPts val="1200"/>
              <a:buNone/>
            </a:pPr>
            <a:r>
              <a:rPr lang="en" sz="1200">
                <a:solidFill>
                  <a:srgbClr val="626368"/>
                </a:solidFill>
                <a:latin typeface="Roboto Mono"/>
                <a:ea typeface="Roboto Mono"/>
                <a:cs typeface="Roboto Mono"/>
                <a:sym typeface="Roboto Mono"/>
              </a:rPr>
              <a:t>Integer</a:t>
            </a:r>
            <a:endParaRPr sz="1200">
              <a:solidFill>
                <a:srgbClr val="62636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28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6368"/>
              </a:buClr>
              <a:buSzPts val="1200"/>
              <a:buNone/>
            </a:pPr>
            <a:r>
              <a:rPr lang="en" sz="1200">
                <a:solidFill>
                  <a:srgbClr val="626368"/>
                </a:solidFill>
                <a:latin typeface="Roboto Mono"/>
                <a:ea typeface="Roboto Mono"/>
                <a:cs typeface="Roboto Mono"/>
                <a:sym typeface="Roboto Mono"/>
              </a:rPr>
              <a:t>Decimal</a:t>
            </a:r>
            <a:endParaRPr sz="1200">
              <a:solidFill>
                <a:srgbClr val="62636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28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6368"/>
              </a:buClr>
              <a:buSzPts val="1200"/>
              <a:buNone/>
            </a:pPr>
            <a:r>
              <a:rPr lang="en" sz="1200">
                <a:solidFill>
                  <a:srgbClr val="626368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endParaRPr sz="1200">
              <a:solidFill>
                <a:srgbClr val="62636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26368"/>
                </a:solidFill>
              </a:rPr>
              <a:t>and one of four measure types:</a:t>
            </a:r>
            <a:endParaRPr sz="1050">
              <a:solidFill>
                <a:srgbClr val="626368"/>
              </a:solidFill>
            </a:endParaRPr>
          </a:p>
          <a:p>
            <a:pPr indent="-228600" lvl="0" marL="4572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626368"/>
              </a:buClr>
              <a:buSzPts val="1200"/>
              <a:buNone/>
            </a:pPr>
            <a:r>
              <a:rPr lang="en" sz="1200">
                <a:solidFill>
                  <a:srgbClr val="626368"/>
                </a:solidFill>
              </a:rPr>
              <a:t> </a:t>
            </a:r>
            <a:r>
              <a:rPr lang="en" sz="1200">
                <a:solidFill>
                  <a:srgbClr val="626368"/>
                </a:solidFill>
                <a:latin typeface="Roboto Mono"/>
                <a:ea typeface="Roboto Mono"/>
                <a:cs typeface="Roboto Mono"/>
                <a:sym typeface="Roboto Mono"/>
              </a:rPr>
              <a:t>Nominal</a:t>
            </a:r>
            <a:endParaRPr sz="1200">
              <a:solidFill>
                <a:srgbClr val="62636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28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6368"/>
              </a:buClr>
              <a:buSzPts val="1200"/>
              <a:buNone/>
            </a:pPr>
            <a:r>
              <a:rPr lang="en" sz="1200">
                <a:solidFill>
                  <a:srgbClr val="626368"/>
                </a:solidFill>
              </a:rPr>
              <a:t> </a:t>
            </a:r>
            <a:r>
              <a:rPr lang="en" sz="1200">
                <a:solidFill>
                  <a:srgbClr val="626368"/>
                </a:solidFill>
                <a:latin typeface="Roboto Mono"/>
                <a:ea typeface="Roboto Mono"/>
                <a:cs typeface="Roboto Mono"/>
                <a:sym typeface="Roboto Mono"/>
              </a:rPr>
              <a:t>Ordinal</a:t>
            </a:r>
            <a:endParaRPr sz="1200">
              <a:solidFill>
                <a:srgbClr val="62636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28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6368"/>
              </a:buClr>
              <a:buSzPts val="1200"/>
              <a:buNone/>
            </a:pPr>
            <a:r>
              <a:rPr lang="en" sz="1200">
                <a:solidFill>
                  <a:srgbClr val="626368"/>
                </a:solidFill>
              </a:rPr>
              <a:t> </a:t>
            </a:r>
            <a:r>
              <a:rPr lang="en" sz="1200">
                <a:solidFill>
                  <a:srgbClr val="626368"/>
                </a:solidFill>
                <a:latin typeface="Roboto Mono"/>
                <a:ea typeface="Roboto Mono"/>
                <a:cs typeface="Roboto Mono"/>
                <a:sym typeface="Roboto Mono"/>
              </a:rPr>
              <a:t>Continuous</a:t>
            </a:r>
            <a:endParaRPr sz="1200">
              <a:solidFill>
                <a:srgbClr val="62636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28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6368"/>
              </a:buClr>
              <a:buSzPts val="1200"/>
              <a:buNone/>
            </a:pPr>
            <a:r>
              <a:rPr lang="en" sz="1200">
                <a:solidFill>
                  <a:srgbClr val="626368"/>
                </a:solidFill>
              </a:rPr>
              <a:t> </a:t>
            </a:r>
            <a:r>
              <a:rPr lang="en" sz="1200">
                <a:solidFill>
                  <a:srgbClr val="62636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endParaRPr sz="1200">
              <a:solidFill>
                <a:srgbClr val="62636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100"/>
              </a:spcAft>
              <a:buNone/>
            </a:pPr>
            <a:r>
              <a:rPr lang="en" sz="1050">
                <a:solidFill>
                  <a:srgbClr val="626368"/>
                </a:solidFill>
              </a:rPr>
              <a:t>They are editable (to a certain extent)</a:t>
            </a:r>
            <a:endParaRPr/>
          </a:p>
        </p:txBody>
      </p:sp>
      <p:pic>
        <p:nvPicPr>
          <p:cNvPr id="153" name="Google Shape;1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00" y="3696950"/>
            <a:ext cx="269825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500" y="3427125"/>
            <a:ext cx="269825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500" y="3157300"/>
            <a:ext cx="269825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500" y="2887475"/>
            <a:ext cx="269825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1"/>
          <p:cNvPicPr preferRelativeResize="0"/>
          <p:nvPr/>
        </p:nvPicPr>
        <p:blipFill rotWithShape="1">
          <a:blip r:embed="rId7">
            <a:alphaModFix/>
          </a:blip>
          <a:srcRect b="47457" l="0" r="53124" t="0"/>
          <a:stretch/>
        </p:blipFill>
        <p:spPr>
          <a:xfrm>
            <a:off x="5039350" y="614875"/>
            <a:ext cx="4104648" cy="2702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21"/>
          <p:cNvCxnSpPr/>
          <p:nvPr/>
        </p:nvCxnSpPr>
        <p:spPr>
          <a:xfrm>
            <a:off x="4976400" y="154012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9" name="Google Shape;159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46925" y="3511700"/>
            <a:ext cx="3797074" cy="16318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21"/>
          <p:cNvCxnSpPr/>
          <p:nvPr/>
        </p:nvCxnSpPr>
        <p:spPr>
          <a:xfrm>
            <a:off x="5172400" y="3908113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lang="en"/>
              <a:t>Compute variables</a:t>
            </a:r>
            <a:endParaRPr/>
          </a:p>
        </p:txBody>
      </p:sp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E.g., 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lang="en" sz="1200">
                <a:solidFill>
                  <a:srgbClr val="626368"/>
                </a:solidFill>
              </a:rPr>
              <a:t>Arithmetic:  </a:t>
            </a:r>
            <a:endParaRPr sz="1200">
              <a:solidFill>
                <a:srgbClr val="626368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>
                <a:solidFill>
                  <a:srgbClr val="626368"/>
                </a:solidFill>
              </a:rPr>
              <a:t>A + B</a:t>
            </a:r>
            <a:endParaRPr sz="1200">
              <a:solidFill>
                <a:srgbClr val="626368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626368"/>
              </a:buClr>
              <a:buSzPts val="1200"/>
              <a:buChar char="-"/>
            </a:pPr>
            <a:r>
              <a:rPr lang="en" sz="1200"/>
              <a:t>CRT-SRT</a:t>
            </a:r>
            <a:endParaRPr sz="1200">
              <a:solidFill>
                <a:srgbClr val="626368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26368"/>
              </a:buClr>
              <a:buSzPts val="1200"/>
              <a:buChar char="-"/>
            </a:pPr>
            <a:r>
              <a:rPr lang="en" sz="1200">
                <a:solidFill>
                  <a:srgbClr val="626368"/>
                </a:solidFill>
              </a:rPr>
              <a:t>Functions (across columns): </a:t>
            </a:r>
            <a:endParaRPr sz="1200">
              <a:solidFill>
                <a:srgbClr val="626368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626368"/>
              </a:buClr>
              <a:buSzPts val="1200"/>
              <a:buChar char="-"/>
            </a:pPr>
            <a:r>
              <a:rPr lang="en" sz="1200">
                <a:solidFill>
                  <a:srgbClr val="626368"/>
                </a:solidFill>
              </a:rPr>
              <a:t>MEAN(A, B)</a:t>
            </a:r>
            <a:endParaRPr sz="1200">
              <a:solidFill>
                <a:srgbClr val="626368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>
                <a:solidFill>
                  <a:srgbClr val="626368"/>
                </a:solidFill>
              </a:rPr>
              <a:t>LOG10(len)</a:t>
            </a:r>
            <a:endParaRPr sz="1200">
              <a:solidFill>
                <a:srgbClr val="626368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26368"/>
              </a:buClr>
              <a:buSzPts val="1200"/>
              <a:buChar char="-"/>
            </a:pPr>
            <a:r>
              <a:rPr lang="en" sz="1200">
                <a:solidFill>
                  <a:srgbClr val="626368"/>
                </a:solidFill>
              </a:rPr>
              <a:t>Variable function (across rows):</a:t>
            </a:r>
            <a:endParaRPr sz="1200">
              <a:solidFill>
                <a:srgbClr val="626368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626368"/>
              </a:buClr>
              <a:buSzPts val="1200"/>
              <a:buChar char="-"/>
            </a:pPr>
            <a:r>
              <a:rPr lang="en" sz="1200">
                <a:solidFill>
                  <a:srgbClr val="626368"/>
                </a:solidFill>
              </a:rPr>
              <a:t>VMEAN(len, group_by=dose)</a:t>
            </a:r>
            <a:endParaRPr sz="1200">
              <a:solidFill>
                <a:srgbClr val="626368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>
                <a:solidFill>
                  <a:srgbClr val="626368"/>
                </a:solidFill>
              </a:rPr>
              <a:t>Statistics, e.g., z-scores</a:t>
            </a:r>
            <a:endParaRPr sz="1200">
              <a:solidFill>
                <a:srgbClr val="626368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>
                <a:solidFill>
                  <a:srgbClr val="626368"/>
                </a:solidFill>
              </a:rPr>
              <a:t>(dose - VMEAN(dose)) / VSTDEV(dose)</a:t>
            </a:r>
            <a:endParaRPr sz="1200">
              <a:solidFill>
                <a:srgbClr val="626368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626368"/>
              </a:buClr>
              <a:buSzPts val="1200"/>
              <a:buChar char="-"/>
            </a:pPr>
            <a:r>
              <a:rPr lang="en" sz="1200">
                <a:solidFill>
                  <a:srgbClr val="626368"/>
                </a:solidFill>
              </a:rPr>
              <a:t>Z(dose)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2: </a:t>
            </a:r>
            <a:r>
              <a:rPr lang="en"/>
              <a:t>Label</a:t>
            </a:r>
            <a:r>
              <a:rPr lang="en"/>
              <a:t> and compute variables </a:t>
            </a:r>
            <a:endParaRPr/>
          </a:p>
        </p:txBody>
      </p:sp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Rename </a:t>
            </a:r>
            <a:r>
              <a:rPr i="1" lang="en"/>
              <a:t>len</a:t>
            </a:r>
            <a:r>
              <a:rPr lang="en"/>
              <a:t> to </a:t>
            </a:r>
            <a:r>
              <a:rPr i="1" lang="en"/>
              <a:t>tooth_length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Label </a:t>
            </a:r>
            <a:r>
              <a:rPr i="1" lang="en"/>
              <a:t>OJ</a:t>
            </a:r>
            <a:r>
              <a:rPr lang="en"/>
              <a:t> as </a:t>
            </a:r>
            <a:r>
              <a:rPr i="1" lang="en"/>
              <a:t>orange_juice</a:t>
            </a:r>
            <a:r>
              <a:rPr lang="en"/>
              <a:t>, and </a:t>
            </a:r>
            <a:r>
              <a:rPr i="1" lang="en"/>
              <a:t>VC</a:t>
            </a:r>
            <a:r>
              <a:rPr lang="en"/>
              <a:t> as </a:t>
            </a:r>
            <a:r>
              <a:rPr i="1" lang="en"/>
              <a:t>vitamin_c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Change the </a:t>
            </a:r>
            <a:r>
              <a:rPr lang="en"/>
              <a:t>variable</a:t>
            </a:r>
            <a:r>
              <a:rPr lang="en"/>
              <a:t> type of </a:t>
            </a:r>
            <a:r>
              <a:rPr i="1" lang="en"/>
              <a:t>dose</a:t>
            </a:r>
            <a:r>
              <a:rPr lang="en"/>
              <a:t> into ordinal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Reorder the levels of </a:t>
            </a:r>
            <a:r>
              <a:rPr i="1" lang="en"/>
              <a:t>dose</a:t>
            </a:r>
            <a:r>
              <a:rPr lang="en"/>
              <a:t> as 2000, 1000, 500 (instead of 500, 1000, 2000)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Label the levels of </a:t>
            </a:r>
            <a:r>
              <a:rPr i="1" lang="en"/>
              <a:t>dose</a:t>
            </a:r>
            <a:r>
              <a:rPr lang="en"/>
              <a:t> in mg (Hint: 1mg = 1000 mcg)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Compute</a:t>
            </a:r>
            <a:r>
              <a:rPr lang="en"/>
              <a:t> </a:t>
            </a:r>
            <a:r>
              <a:rPr i="1" lang="en"/>
              <a:t>len_z</a:t>
            </a:r>
            <a:r>
              <a:rPr lang="en"/>
              <a:t> the z-score of len (Hint: </a:t>
            </a:r>
            <a:r>
              <a:rPr i="1" lang="en"/>
              <a:t>Z(</a:t>
            </a:r>
            <a:r>
              <a:rPr i="1" lang="en"/>
              <a:t>tooth_length</a:t>
            </a:r>
            <a:r>
              <a:rPr i="1" lang="en"/>
              <a:t>)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67176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24"/>
          <p:cNvCxnSpPr/>
          <p:nvPr/>
        </p:nvCxnSpPr>
        <p:spPr>
          <a:xfrm>
            <a:off x="311700" y="209372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Descriptive statistics</a:t>
            </a:r>
            <a:endParaRPr/>
          </a:p>
        </p:txBody>
      </p:sp>
      <p:cxnSp>
        <p:nvCxnSpPr>
          <p:cNvPr id="180" name="Google Shape;180;p24"/>
          <p:cNvCxnSpPr/>
          <p:nvPr/>
        </p:nvCxnSpPr>
        <p:spPr>
          <a:xfrm flipH="1">
            <a:off x="270800" y="172325"/>
            <a:ext cx="246300" cy="272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4"/>
          <p:cNvCxnSpPr/>
          <p:nvPr/>
        </p:nvCxnSpPr>
        <p:spPr>
          <a:xfrm flipH="1">
            <a:off x="1457350" y="-100375"/>
            <a:ext cx="246300" cy="272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24"/>
          <p:cNvSpPr/>
          <p:nvPr/>
        </p:nvSpPr>
        <p:spPr>
          <a:xfrm>
            <a:off x="1387375" y="1130575"/>
            <a:ext cx="1560900" cy="1159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" name="Google Shape;183;p24"/>
          <p:cNvCxnSpPr/>
          <p:nvPr/>
        </p:nvCxnSpPr>
        <p:spPr>
          <a:xfrm>
            <a:off x="42900" y="439652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Data v</a:t>
            </a:r>
            <a:r>
              <a:rPr lang="en"/>
              <a:t>isualization</a:t>
            </a:r>
            <a:endParaRPr/>
          </a:p>
        </p:txBody>
      </p:sp>
      <p:sp>
        <p:nvSpPr>
          <p:cNvPr id="189" name="Google Shape;18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bar charts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</a:t>
            </a:r>
            <a:r>
              <a:rPr lang="en"/>
              <a:t>stograms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density plots</a:t>
            </a:r>
            <a:endParaRPr/>
          </a:p>
        </p:txBody>
      </p:sp>
      <p:pic>
        <p:nvPicPr>
          <p:cNvPr id="190" name="Google Shape;19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2912" y="0"/>
            <a:ext cx="513107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450" y="3029850"/>
            <a:ext cx="3799550" cy="182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Data visualization</a:t>
            </a:r>
            <a:endParaRPr/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box plots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violin plots</a:t>
            </a:r>
            <a:endParaRPr/>
          </a:p>
        </p:txBody>
      </p:sp>
      <p:pic>
        <p:nvPicPr>
          <p:cNvPr id="198" name="Google Shape;19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08475"/>
            <a:ext cx="4717150" cy="313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0500" y="2008475"/>
            <a:ext cx="4657650" cy="30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Exercise 3: </a:t>
            </a:r>
            <a:r>
              <a:rPr lang="en"/>
              <a:t>Bugs!</a:t>
            </a:r>
            <a:endParaRPr/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extent to which men and women want to kill arthropods that vary in</a:t>
            </a:r>
            <a:b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freighteningness (low, high) and disgustingness (low, high). </a:t>
            </a:r>
            <a:b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participant rates their attitudes towards all anthropods. </a:t>
            </a:r>
            <a:endParaRPr sz="2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 372 rows and 6 variables</a:t>
            </a:r>
            <a:endParaRPr sz="2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226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ubject</a:t>
            </a: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Subject ID</a:t>
            </a:r>
            <a:endParaRPr sz="2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22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gender. Female or Male</a:t>
            </a:r>
            <a:endParaRPr sz="2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22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region. Region of the world the participant was from.</a:t>
            </a:r>
            <a:endParaRPr sz="2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22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education. Level of education.</a:t>
            </a:r>
            <a:endParaRPr sz="2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22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desire. The desire to kill an arthropod indicated on a scale from 0 to 10,</a:t>
            </a:r>
            <a:b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the following conditions:</a:t>
            </a:r>
            <a:endParaRPr sz="2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22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LDLF</a:t>
            </a: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low freighteningness and low disgustingness; </a:t>
            </a:r>
            <a:endParaRPr sz="2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22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LFHD</a:t>
            </a: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low freighteningness and high disgustingness;</a:t>
            </a:r>
            <a:endParaRPr sz="2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22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HFHD</a:t>
            </a: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high freighteningness and low disgustingness;</a:t>
            </a:r>
            <a:endParaRPr sz="2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22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HFHD</a:t>
            </a: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high freighteningness and high disgustingness</a:t>
            </a:r>
            <a:endParaRPr sz="2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71400" y="4703625"/>
            <a:ext cx="900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Ryan, R. S., Wilde, M., &amp; Crist, S. (2013). Compared to a small, supervised lab experiment, a large, unsupervised web-based experiment on a previously unknown effect has benefits that outweigh its potential costs. </a:t>
            </a:r>
            <a:r>
              <a:rPr i="1" lang="en" sz="6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Computers in Human Behavior</a:t>
            </a:r>
            <a:r>
              <a:rPr lang="en" sz="6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i="1" lang="en" sz="6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29</a:t>
            </a:r>
            <a:r>
              <a:rPr lang="en" sz="6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(4), 1295-1301.</a:t>
            </a:r>
            <a:r>
              <a:rPr lang="en" sz="400">
                <a:solidFill>
                  <a:schemeClr val="dk1"/>
                </a:solidFill>
              </a:rPr>
              <a:t> 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71400" y="448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u="sng">
                <a:solidFill>
                  <a:schemeClr val="hlink"/>
                </a:solidFill>
                <a:hlinkClick r:id="rId3"/>
              </a:rPr>
              <a:t>https://www.indrapatil.com/ggstatsplot/reference/bugs_long.html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pic>
        <p:nvPicPr>
          <p:cNvPr id="208" name="Google Shape;20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1213" y="565468"/>
            <a:ext cx="3386475" cy="376273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/>
        </p:nvSpPr>
        <p:spPr>
          <a:xfrm>
            <a:off x="5641213" y="4328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u="sng">
                <a:solidFill>
                  <a:schemeClr val="hlink"/>
                </a:solidFill>
                <a:hlinkClick r:id="rId5"/>
              </a:rPr>
              <a:t>Bug (Pokémon type) | Nintendo | Fandom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3: Bugs! </a:t>
            </a:r>
            <a:endParaRPr/>
          </a:p>
        </p:txBody>
      </p:sp>
      <p:sp>
        <p:nvSpPr>
          <p:cNvPr id="215" name="Google Shape;21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Load the Bugs dataset from the data library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 the data and measure types; correct them if needed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Compute a </a:t>
            </a:r>
            <a:r>
              <a:rPr i="1" lang="en"/>
              <a:t>desire_to_kill</a:t>
            </a:r>
            <a:r>
              <a:rPr lang="en"/>
              <a:t> rating by averaging the ratings across all conditions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Explore the summary statistics of this </a:t>
            </a:r>
            <a:r>
              <a:rPr i="1" lang="en"/>
              <a:t>desire_to_kill</a:t>
            </a:r>
            <a:r>
              <a:rPr lang="en"/>
              <a:t> variable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Based on data visualization, determine if </a:t>
            </a:r>
            <a:r>
              <a:rPr i="1" lang="en"/>
              <a:t>desire_to_kill </a:t>
            </a:r>
            <a:r>
              <a:rPr lang="en"/>
              <a:t>differs across: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Gender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Education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Region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Categorize individuals (rows) into high vs. low desire_to_kill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Filter</a:t>
            </a:r>
            <a:endParaRPr/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With a clear rationale, outliers / invalid data could be </a:t>
            </a:r>
            <a:r>
              <a:rPr lang="en"/>
              <a:t>excluded from the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E.g., in the Bugs dataset, subject 11 has very low ratings across all conditions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0, 2.5, 0, 0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could be excluded with the filter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 with other changes in the data, outputs will be automatically updated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8913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Filter</a:t>
            </a:r>
            <a:endParaRPr/>
          </a:p>
        </p:txBody>
      </p:sp>
      <p:cxnSp>
        <p:nvCxnSpPr>
          <p:cNvPr id="228" name="Google Shape;228;p30"/>
          <p:cNvCxnSpPr/>
          <p:nvPr/>
        </p:nvCxnSpPr>
        <p:spPr>
          <a:xfrm>
            <a:off x="946700" y="6172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30"/>
          <p:cNvCxnSpPr/>
          <p:nvPr/>
        </p:nvCxnSpPr>
        <p:spPr>
          <a:xfrm>
            <a:off x="3884025" y="25792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30"/>
          <p:cNvCxnSpPr/>
          <p:nvPr/>
        </p:nvCxnSpPr>
        <p:spPr>
          <a:xfrm>
            <a:off x="42900" y="477522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30"/>
          <p:cNvCxnSpPr/>
          <p:nvPr/>
        </p:nvCxnSpPr>
        <p:spPr>
          <a:xfrm>
            <a:off x="2646700" y="146237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30"/>
          <p:cNvSpPr txBox="1"/>
          <p:nvPr/>
        </p:nvSpPr>
        <p:spPr>
          <a:xfrm>
            <a:off x="4152825" y="1462375"/>
            <a:ext cx="339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!= means “not equal”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Transform variables</a:t>
            </a:r>
            <a:endParaRPr/>
          </a:p>
        </p:txBody>
      </p:sp>
      <p:sp>
        <p:nvSpPr>
          <p:cNvPr id="238" name="Google Shape;2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Unlike </a:t>
            </a:r>
            <a:r>
              <a:rPr i="1" lang="en"/>
              <a:t>compute</a:t>
            </a:r>
            <a:r>
              <a:rPr lang="en"/>
              <a:t>, which could work on multiple </a:t>
            </a:r>
            <a:r>
              <a:rPr lang="en"/>
              <a:t>variables</a:t>
            </a:r>
            <a:r>
              <a:rPr lang="en"/>
              <a:t>, </a:t>
            </a:r>
            <a:r>
              <a:rPr i="1" lang="en"/>
              <a:t>transform</a:t>
            </a:r>
            <a:r>
              <a:rPr lang="en"/>
              <a:t> works on one variable. However, it could reuse transformation functions.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Typically used for recoding </a:t>
            </a:r>
            <a:r>
              <a:rPr lang="en"/>
              <a:t>variables</a:t>
            </a:r>
            <a:r>
              <a:rPr lang="en"/>
              <a:t>, or with functions applied to multiple </a:t>
            </a:r>
            <a:r>
              <a:rPr lang="en"/>
              <a:t>variables</a:t>
            </a:r>
            <a:r>
              <a:rPr lang="en"/>
              <a:t> repeatedly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E.g., median split could be applied to </a:t>
            </a:r>
            <a:r>
              <a:rPr lang="en"/>
              <a:t>dichotomize</a:t>
            </a:r>
            <a:r>
              <a:rPr lang="en"/>
              <a:t> </a:t>
            </a:r>
            <a:r>
              <a:rPr lang="en"/>
              <a:t>variables</a:t>
            </a:r>
            <a:r>
              <a:rPr lang="en"/>
              <a:t> (usually not recommended though)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 the BUGS dataset, an individual could be categorized as “</a:t>
            </a:r>
            <a:r>
              <a:rPr i="1" lang="en"/>
              <a:t>killer’</a:t>
            </a:r>
            <a:r>
              <a:rPr lang="en"/>
              <a:t> if the </a:t>
            </a:r>
            <a:r>
              <a:rPr i="1" lang="en"/>
              <a:t>desire_to_kill</a:t>
            </a:r>
            <a:r>
              <a:rPr lang="en"/>
              <a:t> rating is larger or equal to the median, and </a:t>
            </a:r>
            <a:r>
              <a:rPr i="1" lang="en"/>
              <a:t>“not killer”</a:t>
            </a:r>
            <a:r>
              <a:rPr lang="en"/>
              <a:t> if not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62" y="0"/>
            <a:ext cx="87490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Transform </a:t>
            </a:r>
            <a:r>
              <a:rPr lang="en"/>
              <a:t>variables</a:t>
            </a:r>
            <a:endParaRPr/>
          </a:p>
        </p:txBody>
      </p:sp>
      <p:cxnSp>
        <p:nvCxnSpPr>
          <p:cNvPr id="245" name="Google Shape;245;p32"/>
          <p:cNvCxnSpPr/>
          <p:nvPr/>
        </p:nvCxnSpPr>
        <p:spPr>
          <a:xfrm>
            <a:off x="2260250" y="1110650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32"/>
          <p:cNvCxnSpPr/>
          <p:nvPr/>
        </p:nvCxnSpPr>
        <p:spPr>
          <a:xfrm>
            <a:off x="2260250" y="1306850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32"/>
          <p:cNvCxnSpPr/>
          <p:nvPr/>
        </p:nvCxnSpPr>
        <p:spPr>
          <a:xfrm>
            <a:off x="2104225" y="37067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32"/>
          <p:cNvCxnSpPr/>
          <p:nvPr/>
        </p:nvCxnSpPr>
        <p:spPr>
          <a:xfrm>
            <a:off x="2947875" y="156812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32"/>
          <p:cNvCxnSpPr/>
          <p:nvPr/>
        </p:nvCxnSpPr>
        <p:spPr>
          <a:xfrm>
            <a:off x="3807825" y="1693300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7. Transform variables</a:t>
            </a:r>
            <a:endParaRPr/>
          </a:p>
        </p:txBody>
      </p:sp>
      <p:pic>
        <p:nvPicPr>
          <p:cNvPr id="255" name="Google Shape;2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325" y="1151975"/>
            <a:ext cx="7465983" cy="3820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33"/>
          <p:cNvCxnSpPr/>
          <p:nvPr/>
        </p:nvCxnSpPr>
        <p:spPr>
          <a:xfrm>
            <a:off x="2321950" y="3055850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33"/>
          <p:cNvCxnSpPr/>
          <p:nvPr/>
        </p:nvCxnSpPr>
        <p:spPr>
          <a:xfrm>
            <a:off x="3136550" y="300867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33"/>
          <p:cNvCxnSpPr/>
          <p:nvPr/>
        </p:nvCxnSpPr>
        <p:spPr>
          <a:xfrm>
            <a:off x="6019450" y="300867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33"/>
          <p:cNvCxnSpPr/>
          <p:nvPr/>
        </p:nvCxnSpPr>
        <p:spPr>
          <a:xfrm>
            <a:off x="2867750" y="353117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33"/>
          <p:cNvCxnSpPr/>
          <p:nvPr/>
        </p:nvCxnSpPr>
        <p:spPr>
          <a:xfrm>
            <a:off x="1628600" y="273022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Statistics!</a:t>
            </a:r>
            <a:endParaRPr/>
          </a:p>
        </p:txBody>
      </p:sp>
      <p:sp>
        <p:nvSpPr>
          <p:cNvPr id="266" name="Google Shape;26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Unlike SPSS, Javmovi does not have as many analysis options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However, the outputs of the </a:t>
            </a:r>
            <a:r>
              <a:rPr lang="en"/>
              <a:t>analysis</a:t>
            </a:r>
            <a:r>
              <a:rPr lang="en"/>
              <a:t> are often clearer and follow the APA format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By design, the ways to execute them are similar to SPSS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8. Statistics! - Independent t test</a:t>
            </a:r>
            <a:endParaRPr/>
          </a:p>
        </p:txBody>
      </p:sp>
      <p:pic>
        <p:nvPicPr>
          <p:cNvPr id="272" name="Google Shape;27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2575" y="626470"/>
            <a:ext cx="3230574" cy="4066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62275"/>
            <a:ext cx="5652204" cy="201005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5"/>
          <p:cNvSpPr txBox="1"/>
          <p:nvPr/>
        </p:nvSpPr>
        <p:spPr>
          <a:xfrm>
            <a:off x="311700" y="1300400"/>
            <a:ext cx="493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Does </a:t>
            </a:r>
            <a:r>
              <a:rPr i="1" lang="en" sz="1800">
                <a:solidFill>
                  <a:schemeClr val="dk2"/>
                </a:solidFill>
              </a:rPr>
              <a:t>desire_to_kill </a:t>
            </a:r>
            <a:r>
              <a:rPr lang="en" sz="1800">
                <a:solidFill>
                  <a:schemeClr val="dk2"/>
                </a:solidFill>
              </a:rPr>
              <a:t>differ across genders?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75" name="Google Shape;275;p35"/>
          <p:cNvCxnSpPr/>
          <p:nvPr/>
        </p:nvCxnSpPr>
        <p:spPr>
          <a:xfrm>
            <a:off x="7430075" y="166607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35"/>
          <p:cNvCxnSpPr/>
          <p:nvPr/>
        </p:nvCxnSpPr>
        <p:spPr>
          <a:xfrm>
            <a:off x="7430075" y="2434600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35"/>
          <p:cNvCxnSpPr/>
          <p:nvPr/>
        </p:nvCxnSpPr>
        <p:spPr>
          <a:xfrm>
            <a:off x="7197275" y="280492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35"/>
          <p:cNvCxnSpPr/>
          <p:nvPr/>
        </p:nvCxnSpPr>
        <p:spPr>
          <a:xfrm>
            <a:off x="5804600" y="4366700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8. Statistics! - Repeated measures ANOVA</a:t>
            </a:r>
            <a:endParaRPr/>
          </a:p>
        </p:txBody>
      </p:sp>
      <p:sp>
        <p:nvSpPr>
          <p:cNvPr id="284" name="Google Shape;284;p36"/>
          <p:cNvSpPr txBox="1"/>
          <p:nvPr/>
        </p:nvSpPr>
        <p:spPr>
          <a:xfrm>
            <a:off x="167075" y="1111525"/>
            <a:ext cx="807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 </a:t>
            </a:r>
            <a:r>
              <a:rPr i="1" lang="en" sz="1800">
                <a:solidFill>
                  <a:schemeClr val="dk2"/>
                </a:solidFill>
              </a:rPr>
              <a:t>disgustingness </a:t>
            </a:r>
            <a:r>
              <a:rPr lang="en" sz="1800">
                <a:solidFill>
                  <a:schemeClr val="dk2"/>
                </a:solidFill>
              </a:rPr>
              <a:t>and </a:t>
            </a:r>
            <a:r>
              <a:rPr i="1" lang="en" sz="1800">
                <a:solidFill>
                  <a:schemeClr val="dk2"/>
                </a:solidFill>
              </a:rPr>
              <a:t>frighteningness</a:t>
            </a:r>
            <a:r>
              <a:rPr lang="en" sz="1800">
                <a:solidFill>
                  <a:schemeClr val="dk2"/>
                </a:solidFill>
              </a:rPr>
              <a:t> affect </a:t>
            </a:r>
            <a:r>
              <a:rPr i="1" lang="en" sz="1800">
                <a:solidFill>
                  <a:schemeClr val="dk2"/>
                </a:solidFill>
              </a:rPr>
              <a:t>desire_to_kill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/>
          </a:p>
        </p:txBody>
      </p:sp>
      <p:pic>
        <p:nvPicPr>
          <p:cNvPr id="285" name="Google Shape;28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850" y="1725625"/>
            <a:ext cx="2643481" cy="32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1256" y="1725625"/>
            <a:ext cx="3215916" cy="3265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36"/>
          <p:cNvCxnSpPr/>
          <p:nvPr/>
        </p:nvCxnSpPr>
        <p:spPr>
          <a:xfrm>
            <a:off x="2468175" y="264542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p36"/>
          <p:cNvCxnSpPr/>
          <p:nvPr/>
        </p:nvCxnSpPr>
        <p:spPr>
          <a:xfrm>
            <a:off x="2468175" y="3466200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" name="Google Shape;289;p36"/>
          <p:cNvCxnSpPr/>
          <p:nvPr/>
        </p:nvCxnSpPr>
        <p:spPr>
          <a:xfrm>
            <a:off x="5969500" y="228187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p36"/>
          <p:cNvCxnSpPr/>
          <p:nvPr/>
        </p:nvCxnSpPr>
        <p:spPr>
          <a:xfrm>
            <a:off x="4303200" y="3741950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8. Statistics! - Repeated measures ANOVA</a:t>
            </a:r>
            <a:endParaRPr/>
          </a:p>
        </p:txBody>
      </p:sp>
      <p:pic>
        <p:nvPicPr>
          <p:cNvPr id="296" name="Google Shape;29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700" y="1201575"/>
            <a:ext cx="4932975" cy="3557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7125" y="2001925"/>
            <a:ext cx="4072976" cy="275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8. Statistics! - Correlation</a:t>
            </a:r>
            <a:endParaRPr/>
          </a:p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Are the ratings across four conditions correlated?</a:t>
            </a:r>
            <a:endParaRPr/>
          </a:p>
        </p:txBody>
      </p:sp>
      <p:pic>
        <p:nvPicPr>
          <p:cNvPr id="304" name="Google Shape;3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5" y="1954250"/>
            <a:ext cx="2566974" cy="318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4075" y="1954250"/>
            <a:ext cx="3395300" cy="33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4275" y="1961575"/>
            <a:ext cx="3249727" cy="3312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38"/>
          <p:cNvCxnSpPr/>
          <p:nvPr/>
        </p:nvCxnSpPr>
        <p:spPr>
          <a:xfrm>
            <a:off x="1199963" y="276257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" name="Google Shape;308;p38"/>
          <p:cNvCxnSpPr/>
          <p:nvPr/>
        </p:nvCxnSpPr>
        <p:spPr>
          <a:xfrm>
            <a:off x="1102250" y="437267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8. Statistics! - Regression</a:t>
            </a:r>
            <a:endParaRPr/>
          </a:p>
        </p:txBody>
      </p:sp>
      <p:sp>
        <p:nvSpPr>
          <p:cNvPr id="314" name="Google Shape;31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Do gender, region, and education predict overall </a:t>
            </a:r>
            <a:r>
              <a:rPr i="1" lang="en"/>
              <a:t>desire_to_kill</a:t>
            </a:r>
            <a:r>
              <a:rPr lang="en"/>
              <a:t>?</a:t>
            </a:r>
            <a:endParaRPr/>
          </a:p>
        </p:txBody>
      </p:sp>
      <p:pic>
        <p:nvPicPr>
          <p:cNvPr id="315" name="Google Shape;31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12800"/>
            <a:ext cx="3425251" cy="273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5050" y="2412811"/>
            <a:ext cx="2920724" cy="273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1075" y="1677625"/>
            <a:ext cx="2569326" cy="3465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8" name="Google Shape;318;p39"/>
          <p:cNvCxnSpPr/>
          <p:nvPr/>
        </p:nvCxnSpPr>
        <p:spPr>
          <a:xfrm>
            <a:off x="1625450" y="281922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39"/>
          <p:cNvCxnSpPr/>
          <p:nvPr/>
        </p:nvCxnSpPr>
        <p:spPr>
          <a:xfrm>
            <a:off x="1578225" y="392332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39"/>
          <p:cNvCxnSpPr/>
          <p:nvPr/>
        </p:nvCxnSpPr>
        <p:spPr>
          <a:xfrm>
            <a:off x="3172550" y="383597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39"/>
          <p:cNvCxnSpPr/>
          <p:nvPr/>
        </p:nvCxnSpPr>
        <p:spPr>
          <a:xfrm>
            <a:off x="4756100" y="3145650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1585914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Modules</a:t>
            </a:r>
            <a:endParaRPr/>
          </a:p>
        </p:txBody>
      </p:sp>
      <p:pic>
        <p:nvPicPr>
          <p:cNvPr id="328" name="Google Shape;32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3775" y="1017725"/>
            <a:ext cx="5325075" cy="399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0"/>
          <p:cNvPicPr preferRelativeResize="0"/>
          <p:nvPr/>
        </p:nvPicPr>
        <p:blipFill rotWithShape="1">
          <a:blip r:embed="rId5">
            <a:alphaModFix/>
          </a:blip>
          <a:srcRect b="0" l="0" r="0" t="9289"/>
          <a:stretch/>
        </p:blipFill>
        <p:spPr>
          <a:xfrm>
            <a:off x="7028850" y="1017725"/>
            <a:ext cx="2115150" cy="466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0"/>
          <p:cNvSpPr txBox="1"/>
          <p:nvPr/>
        </p:nvSpPr>
        <p:spPr>
          <a:xfrm>
            <a:off x="-85800" y="1585925"/>
            <a:ext cx="706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Rj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jTransform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 Long format and wide format</a:t>
            </a:r>
            <a:endParaRPr/>
          </a:p>
        </p:txBody>
      </p:sp>
      <p:sp>
        <p:nvSpPr>
          <p:cNvPr id="336" name="Google Shape;336;p41"/>
          <p:cNvSpPr txBox="1"/>
          <p:nvPr>
            <p:ph idx="1" type="body"/>
          </p:nvPr>
        </p:nvSpPr>
        <p:spPr>
          <a:xfrm>
            <a:off x="311700" y="1152475"/>
            <a:ext cx="476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are often stored in the long or wide format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E.g.,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behavioral tasks with </a:t>
            </a:r>
            <a:r>
              <a:rPr lang="en"/>
              <a:t>multiple</a:t>
            </a:r>
            <a:r>
              <a:rPr lang="en"/>
              <a:t> trials store data in the long format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statistical packages </a:t>
            </a:r>
            <a:r>
              <a:rPr lang="en" u="sng"/>
              <a:t>sometimes</a:t>
            </a:r>
            <a:r>
              <a:rPr lang="en"/>
              <a:t> expect data in the wide format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Jamovi doesn’t have a function for that</a:t>
            </a:r>
            <a:br>
              <a:rPr lang="en"/>
            </a:br>
            <a:r>
              <a:rPr lang="en"/>
              <a:t> but the module </a:t>
            </a:r>
            <a:r>
              <a:rPr i="1" lang="en"/>
              <a:t>jTransfrom</a:t>
            </a:r>
            <a:r>
              <a:rPr lang="en"/>
              <a:t> can do that</a:t>
            </a:r>
            <a:endParaRPr/>
          </a:p>
        </p:txBody>
      </p:sp>
      <p:pic>
        <p:nvPicPr>
          <p:cNvPr id="337" name="Google Shape;33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1375" y="1306175"/>
            <a:ext cx="3942624" cy="383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4: Simon task </a:t>
            </a:r>
            <a:endParaRPr/>
          </a:p>
        </p:txBody>
      </p:sp>
      <p:sp>
        <p:nvSpPr>
          <p:cNvPr id="343" name="Google Shape;343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 the data sets </a:t>
            </a:r>
            <a:r>
              <a:rPr i="1" lang="en"/>
              <a:t>simon_data</a:t>
            </a:r>
            <a:r>
              <a:rPr lang="en"/>
              <a:t> and </a:t>
            </a:r>
            <a:r>
              <a:rPr i="1" lang="en"/>
              <a:t>gonogo_data</a:t>
            </a:r>
            <a:r>
              <a:rPr lang="en"/>
              <a:t> from this link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https://drive.google.com/drive/folders/12meW_MLh03t6F_aCJFA02S9Xd0tXZd_B?usp=drive_link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Open </a:t>
            </a:r>
            <a:r>
              <a:rPr i="1" lang="en"/>
              <a:t>simon_data</a:t>
            </a:r>
            <a:r>
              <a:rPr lang="en"/>
              <a:t> and </a:t>
            </a:r>
            <a:r>
              <a:rPr i="1" lang="en"/>
              <a:t>Special Import</a:t>
            </a:r>
            <a:r>
              <a:rPr lang="en"/>
              <a:t> all files</a:t>
            </a:r>
            <a:endParaRPr/>
          </a:p>
        </p:txBody>
      </p:sp>
      <p:pic>
        <p:nvPicPr>
          <p:cNvPr id="344" name="Google Shape;34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7550" y="2255300"/>
            <a:ext cx="2551676" cy="255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825" y="2864100"/>
            <a:ext cx="2121850" cy="17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2"/>
          <p:cNvSpPr txBox="1"/>
          <p:nvPr/>
        </p:nvSpPr>
        <p:spPr>
          <a:xfrm>
            <a:off x="354250" y="4654650"/>
            <a:ext cx="48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22222"/>
                </a:solidFill>
                <a:highlight>
                  <a:srgbClr val="FFFFFF"/>
                </a:highlight>
              </a:rPr>
              <a:t>Stoet, G. (2017). Sex differences in the Simon task help to interpret sex differences in selective attention. </a:t>
            </a:r>
            <a:r>
              <a:rPr i="1" lang="en" sz="800">
                <a:solidFill>
                  <a:srgbClr val="222222"/>
                </a:solidFill>
                <a:highlight>
                  <a:srgbClr val="FFFFFF"/>
                </a:highlight>
              </a:rPr>
              <a:t>Psychological research</a:t>
            </a:r>
            <a:r>
              <a:rPr lang="en" sz="8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" sz="800">
                <a:solidFill>
                  <a:srgbClr val="222222"/>
                </a:solidFill>
                <a:highlight>
                  <a:srgbClr val="FFFFFF"/>
                </a:highlight>
              </a:rPr>
              <a:t>81</a:t>
            </a:r>
            <a:r>
              <a:rPr lang="en" sz="800">
                <a:solidFill>
                  <a:srgbClr val="222222"/>
                </a:solidFill>
                <a:highlight>
                  <a:srgbClr val="FFFFFF"/>
                </a:highlight>
              </a:rPr>
              <a:t>(3), 571-581.</a:t>
            </a:r>
            <a:endParaRPr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Exercise 4: Simon task </a:t>
            </a:r>
            <a:endParaRPr/>
          </a:p>
        </p:txBody>
      </p:sp>
      <p:sp>
        <p:nvSpPr>
          <p:cNvPr id="352" name="Google Shape;35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Convert </a:t>
            </a:r>
            <a:r>
              <a:rPr lang="en"/>
              <a:t>p</a:t>
            </a:r>
            <a:r>
              <a:rPr lang="en"/>
              <a:t>ositions coordinates to “left” or “right” (HINT: [-0.25, 0] = “left”)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Compute </a:t>
            </a:r>
            <a:r>
              <a:rPr i="1" lang="en"/>
              <a:t>trial_accuracy</a:t>
            </a:r>
            <a:r>
              <a:rPr lang="en"/>
              <a:t> (HINT: </a:t>
            </a:r>
            <a:r>
              <a:rPr i="1" lang="en"/>
              <a:t>VALUE((direction == trial_resp.))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Convert the long format data file into wide format, for accuracy and conditions respectively, and merge them into one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"/>
          <p:cNvSpPr txBox="1"/>
          <p:nvPr/>
        </p:nvSpPr>
        <p:spPr>
          <a:xfrm>
            <a:off x="5649925" y="3652762"/>
            <a:ext cx="418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Wide format: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Each participant is a row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58" name="Google Shape;358;p44"/>
          <p:cNvCxnSpPr/>
          <p:nvPr/>
        </p:nvCxnSpPr>
        <p:spPr>
          <a:xfrm rot="10800000">
            <a:off x="4886413" y="3903162"/>
            <a:ext cx="76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44"/>
          <p:cNvCxnSpPr>
            <a:stCxn id="360" idx="1"/>
          </p:cNvCxnSpPr>
          <p:nvPr/>
        </p:nvCxnSpPr>
        <p:spPr>
          <a:xfrm flipH="1">
            <a:off x="4946425" y="1450462"/>
            <a:ext cx="703500" cy="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61" name="Google Shape;36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1012"/>
            <a:ext cx="4816927" cy="186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4"/>
          <p:cNvSpPr txBox="1"/>
          <p:nvPr/>
        </p:nvSpPr>
        <p:spPr>
          <a:xfrm>
            <a:off x="5649925" y="1081012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Long format: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Each measure is a row</a:t>
            </a:r>
            <a:endParaRPr/>
          </a:p>
        </p:txBody>
      </p:sp>
      <p:pic>
        <p:nvPicPr>
          <p:cNvPr id="362" name="Google Shape;36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97812"/>
            <a:ext cx="4507324" cy="20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4"/>
          <p:cNvSpPr txBox="1"/>
          <p:nvPr/>
        </p:nvSpPr>
        <p:spPr>
          <a:xfrm>
            <a:off x="5772900" y="461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by condition (direcion × position)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5"/>
          <p:cNvSpPr txBox="1"/>
          <p:nvPr/>
        </p:nvSpPr>
        <p:spPr>
          <a:xfrm>
            <a:off x="6192525" y="2423100"/>
            <a:ext cx="282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Wide format: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Each participant is a row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70" name="Google Shape;370;p45"/>
          <p:cNvCxnSpPr/>
          <p:nvPr/>
        </p:nvCxnSpPr>
        <p:spPr>
          <a:xfrm flipH="1">
            <a:off x="5583513" y="2820287"/>
            <a:ext cx="609000" cy="40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" name="Google Shape;371;p45"/>
          <p:cNvCxnSpPr>
            <a:stCxn id="372" idx="1"/>
          </p:cNvCxnSpPr>
          <p:nvPr/>
        </p:nvCxnSpPr>
        <p:spPr>
          <a:xfrm flipH="1">
            <a:off x="4946425" y="1450462"/>
            <a:ext cx="703500" cy="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73" name="Google Shape;37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1012"/>
            <a:ext cx="4816927" cy="186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5"/>
          <p:cNvSpPr txBox="1"/>
          <p:nvPr/>
        </p:nvSpPr>
        <p:spPr>
          <a:xfrm>
            <a:off x="5649925" y="1081012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Long format: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Each measure is a row</a:t>
            </a:r>
            <a:endParaRPr/>
          </a:p>
        </p:txBody>
      </p:sp>
      <p:sp>
        <p:nvSpPr>
          <p:cNvPr id="374" name="Google Shape;374;p45"/>
          <p:cNvSpPr txBox="1"/>
          <p:nvPr/>
        </p:nvSpPr>
        <p:spPr>
          <a:xfrm>
            <a:off x="5772900" y="461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RT by condition </a:t>
            </a:r>
            <a:r>
              <a:rPr lang="en"/>
              <a:t>(direcion × position × trial_accuracy)</a:t>
            </a:r>
            <a:r>
              <a:rPr lang="en"/>
              <a:t> </a:t>
            </a:r>
            <a:endParaRPr/>
          </a:p>
        </p:txBody>
      </p:sp>
      <p:pic>
        <p:nvPicPr>
          <p:cNvPr id="376" name="Google Shape;376;p45" title="Screenshot 2026-06-28 at 4.13.1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279102"/>
            <a:ext cx="7300321" cy="186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</a:t>
            </a:r>
            <a:endParaRPr/>
          </a:p>
        </p:txBody>
      </p:sp>
      <p:pic>
        <p:nvPicPr>
          <p:cNvPr id="382" name="Google Shape;38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3504" y="399275"/>
            <a:ext cx="3356024" cy="25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6" title="Screenshot 2026-06-28 at 4.17.1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475" y="3292650"/>
            <a:ext cx="8839204" cy="16055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4" name="Google Shape;384;p46"/>
          <p:cNvCxnSpPr/>
          <p:nvPr/>
        </p:nvCxnSpPr>
        <p:spPr>
          <a:xfrm>
            <a:off x="4613550" y="74367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46"/>
          <p:cNvCxnSpPr/>
          <p:nvPr/>
        </p:nvCxnSpPr>
        <p:spPr>
          <a:xfrm>
            <a:off x="3608650" y="1931550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46"/>
          <p:cNvCxnSpPr/>
          <p:nvPr/>
        </p:nvCxnSpPr>
        <p:spPr>
          <a:xfrm>
            <a:off x="3824800" y="220437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4: Does congruence affect accuracy and RT?</a:t>
            </a:r>
            <a:endParaRPr/>
          </a:p>
        </p:txBody>
      </p:sp>
      <p:sp>
        <p:nvSpPr>
          <p:cNvPr id="392" name="Google Shape;392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Compute a variable that </a:t>
            </a:r>
            <a:r>
              <a:rPr lang="en"/>
              <a:t>indicates congruence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Create a wide format of the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a statistical test to determine if there’s any difference between congruence conditions in accuracy or RT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challenge!</a:t>
            </a:r>
            <a:endParaRPr/>
          </a:p>
        </p:txBody>
      </p:sp>
      <p:sp>
        <p:nvSpPr>
          <p:cNvPr id="398" name="Google Shape;398;p48"/>
          <p:cNvSpPr txBox="1"/>
          <p:nvPr>
            <p:ph idx="1" type="body"/>
          </p:nvPr>
        </p:nvSpPr>
        <p:spPr>
          <a:xfrm>
            <a:off x="311700" y="1152475"/>
            <a:ext cx="5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 students completed a go/no-go task. To analyze their data, you need to: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Preprocess data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Import data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Rename variables and values if necessary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Compute trial_accuracy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Compute trial_outcome (Hit, FA, Miss, CR)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Data analysis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Does accuracy differ across go and no-go condition?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Does RT differ </a:t>
            </a:r>
            <a:r>
              <a:rPr lang="en"/>
              <a:t>across hits and false alarm?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Find out how to calculate d’ and criterion c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Are the values of d’ and c significantly different from 0?</a:t>
            </a:r>
            <a:endParaRPr/>
          </a:p>
        </p:txBody>
      </p:sp>
      <p:pic>
        <p:nvPicPr>
          <p:cNvPr id="399" name="Google Shape;39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0476" y="2766826"/>
            <a:ext cx="2883525" cy="169957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8"/>
          <p:cNvSpPr txBox="1"/>
          <p:nvPr/>
        </p:nvSpPr>
        <p:spPr>
          <a:xfrm>
            <a:off x="6144000" y="446640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22222"/>
                </a:solidFill>
                <a:highlight>
                  <a:srgbClr val="FFFFFF"/>
                </a:highlight>
              </a:rPr>
              <a:t>Guo, Z., Chen, R., Liu, X., Zhao, G., Zheng, Y., Gong, M., &amp; Zhang, J. (2018). The impairing effects of mental fatigue on response inhibition: An ERP study. </a:t>
            </a:r>
            <a:r>
              <a:rPr i="1" lang="en" sz="800">
                <a:solidFill>
                  <a:srgbClr val="222222"/>
                </a:solidFill>
                <a:highlight>
                  <a:srgbClr val="FFFFFF"/>
                </a:highlight>
              </a:rPr>
              <a:t>PloS one</a:t>
            </a:r>
            <a:r>
              <a:rPr lang="en" sz="8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" sz="800">
                <a:solidFill>
                  <a:srgbClr val="222222"/>
                </a:solidFill>
                <a:highlight>
                  <a:srgbClr val="FFFFFF"/>
                </a:highlight>
              </a:rPr>
              <a:t>13</a:t>
            </a:r>
            <a:r>
              <a:rPr lang="en" sz="800">
                <a:solidFill>
                  <a:srgbClr val="222222"/>
                </a:solidFill>
                <a:highlight>
                  <a:srgbClr val="FFFFFF"/>
                </a:highlight>
              </a:rPr>
              <a:t>(6), e0198206</a:t>
            </a:r>
            <a:r>
              <a:rPr lang="en" sz="80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sz="1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compute </a:t>
            </a:r>
            <a:r>
              <a:rPr i="1" lang="en"/>
              <a:t>trial_outcome</a:t>
            </a:r>
            <a:endParaRPr/>
          </a:p>
        </p:txBody>
      </p:sp>
      <p:pic>
        <p:nvPicPr>
          <p:cNvPr id="406" name="Google Shape;40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00" y="1061850"/>
            <a:ext cx="806650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 Jamovi syntax in R</a:t>
            </a:r>
            <a:endParaRPr/>
          </a:p>
        </p:txBody>
      </p:sp>
      <p:sp>
        <p:nvSpPr>
          <p:cNvPr id="412" name="Google Shape;412;p50"/>
          <p:cNvSpPr txBox="1"/>
          <p:nvPr>
            <p:ph idx="1" type="body"/>
          </p:nvPr>
        </p:nvSpPr>
        <p:spPr>
          <a:xfrm>
            <a:off x="311700" y="1152475"/>
            <a:ext cx="661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Procedures on Jamovi could be recreated using the underlying R codes, which is available if Syntax mode enabled.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Find some code above the outputs in the </a:t>
            </a:r>
            <a:r>
              <a:rPr lang="en"/>
              <a:t>result panel, and copy that to the Rj editor and run it!</a:t>
            </a:r>
            <a:endParaRPr/>
          </a:p>
        </p:txBody>
      </p:sp>
      <p:pic>
        <p:nvPicPr>
          <p:cNvPr id="413" name="Google Shape;413;p50" title="Screenshot 2026-06-28 at 9.50.2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4177" y="263950"/>
            <a:ext cx="1989100" cy="4676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4" name="Google Shape;414;p50"/>
          <p:cNvCxnSpPr/>
          <p:nvPr/>
        </p:nvCxnSpPr>
        <p:spPr>
          <a:xfrm>
            <a:off x="6825050" y="2256725"/>
            <a:ext cx="2688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15" name="Google Shape;41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575" y="2696250"/>
            <a:ext cx="5093975" cy="237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you’re interested in R</a:t>
            </a:r>
            <a:endParaRPr/>
          </a:p>
        </p:txBody>
      </p:sp>
      <p:sp>
        <p:nvSpPr>
          <p:cNvPr id="421" name="Google Shape;421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R: </a:t>
            </a:r>
            <a:r>
              <a:rPr lang="en" u="sng">
                <a:solidFill>
                  <a:schemeClr val="hlink"/>
                </a:solidFill>
                <a:hlinkClick r:id="rId3"/>
              </a:rPr>
              <a:t>CRAN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RStudio: </a:t>
            </a:r>
            <a:r>
              <a:rPr lang="en" u="sng">
                <a:solidFill>
                  <a:schemeClr val="hlink"/>
                </a:solidFill>
                <a:hlinkClick r:id="rId4"/>
              </a:rPr>
              <a:t>RStudio IDE | The Premier Free IDE for R</a:t>
            </a: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RStudio is an Integrated Development Environment (IDE) for 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22" name="Google Shape;422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0425" y="1017719"/>
            <a:ext cx="947775" cy="73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5450" y="1823125"/>
            <a:ext cx="2334442" cy="8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429" name="Google Shape;429;p52"/>
          <p:cNvSpPr txBox="1"/>
          <p:nvPr>
            <p:ph idx="1" type="body"/>
          </p:nvPr>
        </p:nvSpPr>
        <p:spPr>
          <a:xfrm>
            <a:off x="311700" y="1152475"/>
            <a:ext cx="557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https://youtu.be/mZomeS0tLxY?si=YBIlvCYcFlOqeWh3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https://lsj.readthedocs.io/en/latest/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community resources - jamovi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Statistics in jamovi – Simple Book Publishing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jamovi Documentation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30" name="Google Shape;430;p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05122" y="1221725"/>
            <a:ext cx="3138875" cy="392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